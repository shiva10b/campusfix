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ff2a6a8e894bd8" /><Relationship Type="http://schemas.openxmlformats.org/officeDocument/2006/relationships/extended-properties" Target="/docProps/app.xml" Id="R6119228bf6b445d9" /><Relationship Type="http://schemas.openxmlformats.org/officeDocument/2006/relationships/officeDocument" Target="/ppt/presentation.xml" Id="R88c36572767342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bd455342974452"/>
  </p:sldMasterIdLst>
  <p:notesMasterIdLst>
    <p:notesMasterId xmlns:r="http://schemas.openxmlformats.org/officeDocument/2006/relationships" r:id="R69b3ed1b95a24d3a"/>
  </p:notesMasterIdLst>
  <p:sldIdLst>
    <p:sldId xmlns:r="http://schemas.openxmlformats.org/officeDocument/2006/relationships" id="256" r:id="Rd9d8ba629bad4635"/>
    <p:sldId xmlns:r="http://schemas.openxmlformats.org/officeDocument/2006/relationships" id="257" r:id="Rc84ff76c7fa6495c"/>
    <p:sldId xmlns:r="http://schemas.openxmlformats.org/officeDocument/2006/relationships" id="258" r:id="R630dacfb7b19417e"/>
    <p:sldId xmlns:r="http://schemas.openxmlformats.org/officeDocument/2006/relationships" id="259" r:id="Rd50136b94979448a"/>
    <p:sldId xmlns:r="http://schemas.openxmlformats.org/officeDocument/2006/relationships" id="260" r:id="R9a96e9f2172d4e9e"/>
    <p:sldId xmlns:r="http://schemas.openxmlformats.org/officeDocument/2006/relationships" id="261" r:id="R4aa621e89abd4425"/>
    <p:sldId xmlns:r="http://schemas.openxmlformats.org/officeDocument/2006/relationships" id="262" r:id="R2b6cf81e029c4326"/>
    <p:sldId xmlns:r="http://schemas.openxmlformats.org/officeDocument/2006/relationships" id="263" r:id="Rbe2c0607d91a4197"/>
    <p:sldId xmlns:r="http://schemas.openxmlformats.org/officeDocument/2006/relationships" id="264" r:id="R15400b93af1c4ea2"/>
    <p:sldId xmlns:r="http://schemas.openxmlformats.org/officeDocument/2006/relationships" id="265" r:id="Rd980b137742f432b"/>
    <p:sldId xmlns:r="http://schemas.openxmlformats.org/officeDocument/2006/relationships" id="266" r:id="R54f97df22778475f"/>
    <p:sldId xmlns:r="http://schemas.openxmlformats.org/officeDocument/2006/relationships" id="267" r:id="Rf52dbfb832a14237"/>
    <p:sldId xmlns:r="http://schemas.openxmlformats.org/officeDocument/2006/relationships" id="268" r:id="Rc0934319c0ce4529"/>
    <p:sldId xmlns:r="http://schemas.openxmlformats.org/officeDocument/2006/relationships" id="269" r:id="Rb9382f6994eb4222"/>
    <p:sldId xmlns:r="http://schemas.openxmlformats.org/officeDocument/2006/relationships" id="270" r:id="R839a11b0f94d48de"/>
    <p:sldId xmlns:r="http://schemas.openxmlformats.org/officeDocument/2006/relationships" id="271" r:id="Ra65bd1346b794ea5"/>
    <p:sldId xmlns:r="http://schemas.openxmlformats.org/officeDocument/2006/relationships" id="272" r:id="R1f19ebb8a74247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5fe2f83b7f4aba" /><Relationship Type="http://schemas.openxmlformats.org/officeDocument/2006/relationships/slideMaster" Target="/ppt/slideMasters/slideMaster1.xml" Id="Rbebd455342974452" /><Relationship Type="http://schemas.openxmlformats.org/officeDocument/2006/relationships/notesMaster" Target="/ppt/notesMasters/notesMaster1.xml" Id="R69b3ed1b95a24d3a" /><Relationship Type="http://schemas.openxmlformats.org/officeDocument/2006/relationships/presProps" Target="/ppt/presProps.xml" Id="Re9a690fa089b436d" /><Relationship Type="http://schemas.openxmlformats.org/officeDocument/2006/relationships/tableStyles" Target="/ppt/tableStyles.xml" Id="R4f43438b6c194aee" /><Relationship Type="http://schemas.openxmlformats.org/officeDocument/2006/relationships/slide" Target="/ppt/slides/slide1.xml" Id="Rd9d8ba629bad4635" /><Relationship Type="http://schemas.openxmlformats.org/officeDocument/2006/relationships/slide" Target="/ppt/slides/slide2.xml" Id="Rc84ff76c7fa6495c" /><Relationship Type="http://schemas.openxmlformats.org/officeDocument/2006/relationships/slide" Target="/ppt/slides/slide3.xml" Id="R630dacfb7b19417e" /><Relationship Type="http://schemas.openxmlformats.org/officeDocument/2006/relationships/slide" Target="/ppt/slides/slide4.xml" Id="Rd50136b94979448a" /><Relationship Type="http://schemas.openxmlformats.org/officeDocument/2006/relationships/slide" Target="/ppt/slides/slide5.xml" Id="R9a96e9f2172d4e9e" /><Relationship Type="http://schemas.openxmlformats.org/officeDocument/2006/relationships/slide" Target="/ppt/slides/slide6.xml" Id="R4aa621e89abd4425" /><Relationship Type="http://schemas.openxmlformats.org/officeDocument/2006/relationships/slide" Target="/ppt/slides/slide7.xml" Id="R2b6cf81e029c4326" /><Relationship Type="http://schemas.openxmlformats.org/officeDocument/2006/relationships/slide" Target="/ppt/slides/slide8.xml" Id="Rbe2c0607d91a4197" /><Relationship Type="http://schemas.openxmlformats.org/officeDocument/2006/relationships/slide" Target="/ppt/slides/slide9.xml" Id="R15400b93af1c4ea2" /><Relationship Type="http://schemas.openxmlformats.org/officeDocument/2006/relationships/slide" Target="/ppt/slides/slide10.xml" Id="Rd980b137742f432b" /><Relationship Type="http://schemas.openxmlformats.org/officeDocument/2006/relationships/slide" Target="/ppt/slides/slide11.xml" Id="R54f97df22778475f" /><Relationship Type="http://schemas.openxmlformats.org/officeDocument/2006/relationships/slide" Target="/ppt/slides/slide12.xml" Id="Rf52dbfb832a14237" /><Relationship Type="http://schemas.openxmlformats.org/officeDocument/2006/relationships/slide" Target="/ppt/slides/slide13.xml" Id="Rc0934319c0ce4529" /><Relationship Type="http://schemas.openxmlformats.org/officeDocument/2006/relationships/slide" Target="/ppt/slides/slide14.xml" Id="Rb9382f6994eb4222" /><Relationship Type="http://schemas.openxmlformats.org/officeDocument/2006/relationships/slide" Target="/ppt/slides/slide15.xml" Id="R839a11b0f94d48de" /><Relationship Type="http://schemas.openxmlformats.org/officeDocument/2006/relationships/slide" Target="/ppt/slides/slide16.xml" Id="Ra65bd1346b794ea5" /><Relationship Type="http://schemas.openxmlformats.org/officeDocument/2006/relationships/slide" Target="/ppt/slides/slide17.xml" Id="R1f19ebb8a74247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a17f6a39ab4c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c4a1354c5e4844" /><Relationship Type="http://schemas.openxmlformats.org/officeDocument/2006/relationships/notesMaster" Target="/ppt/notesMasters/notesMaster1.xml" Id="Rf3e7ca7ba9b34c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cdf1d09aba4256" /><Relationship Type="http://schemas.openxmlformats.org/officeDocument/2006/relationships/notesMaster" Target="/ppt/notesMasters/notesMaster1.xml" Id="Ree6afe29d7474b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7061375b2c4396" /><Relationship Type="http://schemas.openxmlformats.org/officeDocument/2006/relationships/notesMaster" Target="/ppt/notesMasters/notesMaster1.xml" Id="R143fa162131b46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7de7923d494ad9" /><Relationship Type="http://schemas.openxmlformats.org/officeDocument/2006/relationships/notesMaster" Target="/ppt/notesMasters/notesMaster1.xml" Id="Rcfd4ccd306d64f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4fcb14b9ed475f" /><Relationship Type="http://schemas.openxmlformats.org/officeDocument/2006/relationships/notesMaster" Target="/ppt/notesMasters/notesMaster1.xml" Id="R1b3a643e189b41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74ef0796d54a94" /><Relationship Type="http://schemas.openxmlformats.org/officeDocument/2006/relationships/notesMaster" Target="/ppt/notesMasters/notesMaster1.xml" Id="R4256847bc7a74c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3be92394724a2e" /><Relationship Type="http://schemas.openxmlformats.org/officeDocument/2006/relationships/notesMaster" Target="/ppt/notesMasters/notesMaster1.xml" Id="R8d8a249fa55f4d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ac512866534621" /><Relationship Type="http://schemas.openxmlformats.org/officeDocument/2006/relationships/notesMaster" Target="/ppt/notesMasters/notesMaster1.xml" Id="R17d6340858de44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e9883bbdd3428c" /><Relationship Type="http://schemas.openxmlformats.org/officeDocument/2006/relationships/notesMaster" Target="/ppt/notesMasters/notesMaster1.xml" Id="Rbdb7ee70db3b4c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bd095c1f244db5" /><Relationship Type="http://schemas.openxmlformats.org/officeDocument/2006/relationships/notesMaster" Target="/ppt/notesMasters/notesMaster1.xml" Id="R75d631b652834c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835d5bc67842d7" /><Relationship Type="http://schemas.openxmlformats.org/officeDocument/2006/relationships/notesMaster" Target="/ppt/notesMasters/notesMaster1.xml" Id="R99d29fd7504a40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77042256784203" /><Relationship Type="http://schemas.openxmlformats.org/officeDocument/2006/relationships/notesMaster" Target="/ppt/notesMasters/notesMaster1.xml" Id="R96e5c5b45b9f4c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e176f2bcd1440b" /><Relationship Type="http://schemas.openxmlformats.org/officeDocument/2006/relationships/notesMaster" Target="/ppt/notesMasters/notesMaster1.xml" Id="R7a0b162b072045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5189700f23484c" /><Relationship Type="http://schemas.openxmlformats.org/officeDocument/2006/relationships/notesMaster" Target="/ppt/notesMasters/notesMaster1.xml" Id="R4e998c9541804d5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ea72a511aa44629" /><Relationship Type="http://schemas.openxmlformats.org/officeDocument/2006/relationships/notesMaster" Target="/ppt/notesMasters/notesMaster1.xml" Id="R8c1e957769044c5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20c2e32ea264300" /><Relationship Type="http://schemas.openxmlformats.org/officeDocument/2006/relationships/notesMaster" Target="/ppt/notesMasters/notesMaster1.xml" Id="Reb7894f0088e433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9e678a285b47ab" /><Relationship Type="http://schemas.openxmlformats.org/officeDocument/2006/relationships/notesMaster" Target="/ppt/notesMasters/notesMaster1.xml" Id="Re3f0c2c102e547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CampusFix as a working local Django application that connects Students, Maintenance Staff, and Administrators through one accountable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real operational gap. The project is not just a complaint form; it connects reporting, responsibility, progress, and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each need to a visible implementation: ticket number, assigned Staff, timeline, notifications, and reports.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objectives as measurable implementation targets. Each objective has a corresponding working screen or automated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claiming that CampusFix replaces an existing institutional product. Compare the common informal process with the implemented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Emphasise that navigation visibility is only usability. Security comes from decorators plus ownership and assignment checks in the view and service layers.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request path in plain language. The application is a modular Django monolith: simple to deploy locally and easy to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Administrators review and assign, assigned Staff start and resolve, and Administrators close. Rejection is controlled from the early states.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Complaint is the central model. Reference data keeps categories and locations consistent. History, notification, and feedback records provide traceability and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one reason for each technology. SQLite is appropriate for the local academic scope; production would normally use PostgreSQL and managed media.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the same ticket information seen from different authorised roles. The Student view is read-only; the Administrator view exposes only currently valid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clearly that this is transparent rule-based scoring, not machine learning. The system stores an explanation with each complaint.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report filters are reused for totals, table rows, print output, and all three exports. Non-administrators receive HTTP 403.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evidence that each role has a distinct, working interface. The 403 screen proves server-side rejection of cross-role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exact verified figures. The full suite passed 84 tests in 131.552 seconds after the final Batch 6 correction.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Conclude with what is working today, then separate future work clearly. Do not describe future items as implemented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questions. If unsure, connect the question to a visible feature or tested rule and avoid claiming functionality outside the accepted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fcef78429444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1ec7e9963e41b7" /><Relationship Type="http://schemas.openxmlformats.org/officeDocument/2006/relationships/slideLayout" Target="/ppt/slideLayouts/slideLayout1.xml" Id="R161110e195ca44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1110e195ca44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61ce6a10d4ba3" /><Relationship Type="http://schemas.openxmlformats.org/officeDocument/2006/relationships/notesSlide" Target="/ppt/notesSlides/notesSlide1.xml" Id="Rd310bff1c4874b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0f0f5e9f248f5" /><Relationship Type="http://schemas.openxmlformats.org/officeDocument/2006/relationships/image" Target="/ppt/media/image.png" Id="R9581f5488d354b47" /><Relationship Type="http://schemas.openxmlformats.org/officeDocument/2006/relationships/notesSlide" Target="/ppt/notesSlides/notesSlide2.xml" Id="R7f53df9f043440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dc12d263d496d" /><Relationship Type="http://schemas.openxmlformats.org/officeDocument/2006/relationships/notesSlide" Target="/ppt/notesSlides/notesSlide3.xml" Id="R09aac5098b8f4d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90a8e29e24f20" /><Relationship Type="http://schemas.openxmlformats.org/officeDocument/2006/relationships/notesSlide" Target="/ppt/notesSlides/notesSlide4.xml" Id="Rcaf6833e252344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307b57df8408b" /><Relationship Type="http://schemas.openxmlformats.org/officeDocument/2006/relationships/notesSlide" Target="/ppt/notesSlides/notesSlide5.xml" Id="Rcc04aac2e9b245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6da58bbea4414" /><Relationship Type="http://schemas.openxmlformats.org/officeDocument/2006/relationships/notesSlide" Target="/ppt/notesSlides/notesSlide6.xml" Id="R95f1529cb7ef4d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8cb6411914e6f" /><Relationship Type="http://schemas.openxmlformats.org/officeDocument/2006/relationships/notesSlide" Target="/ppt/notesSlides/notesSlide7.xml" Id="R4e5a154d0ea34b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1688109964621" /><Relationship Type="http://schemas.openxmlformats.org/officeDocument/2006/relationships/notesSlide" Target="/ppt/notesSlides/notesSlide8.xml" Id="Rd550eeb0b4d140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969a1aa7e4a56" /><Relationship Type="http://schemas.openxmlformats.org/officeDocument/2006/relationships/notesSlide" Target="/ppt/notesSlides/notesSlide9.xml" Id="R5c2662bae13444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db38c204149af" /><Relationship Type="http://schemas.openxmlformats.org/officeDocument/2006/relationships/notesSlide" Target="/ppt/notesSlides/notesSlide10.xml" Id="Rf93be808866045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c5ac9894542d6" /><Relationship Type="http://schemas.openxmlformats.org/officeDocument/2006/relationships/image" Target="/ppt/media/image2.png" Id="Rf516577ad1894004" /><Relationship Type="http://schemas.openxmlformats.org/officeDocument/2006/relationships/image" Target="/ppt/media/image3.png" Id="R2d9908cc36824c37" /><Relationship Type="http://schemas.openxmlformats.org/officeDocument/2006/relationships/notesSlide" Target="/ppt/notesSlides/notesSlide11.xml" Id="R47a458834d5840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34a88ed414d13" /><Relationship Type="http://schemas.openxmlformats.org/officeDocument/2006/relationships/notesSlide" Target="/ppt/notesSlides/notesSlide12.xml" Id="R5308ba3f252047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bd6e396cb4218" /><Relationship Type="http://schemas.openxmlformats.org/officeDocument/2006/relationships/image" Target="/ppt/media/image4.png" Id="Re85fd39d75b44717" /><Relationship Type="http://schemas.openxmlformats.org/officeDocument/2006/relationships/image" Target="/ppt/media/image5.png" Id="R74caa345b7bb4365" /><Relationship Type="http://schemas.openxmlformats.org/officeDocument/2006/relationships/notesSlide" Target="/ppt/notesSlides/notesSlide13.xml" Id="Rc28345ebbaec42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9bd9d7ac74fa5" /><Relationship Type="http://schemas.openxmlformats.org/officeDocument/2006/relationships/image" Target="/ppt/media/image6.png" Id="Rbe525a122e404e26" /><Relationship Type="http://schemas.openxmlformats.org/officeDocument/2006/relationships/image" Target="/ppt/media/image7.png" Id="R5d1d9a6587e34781" /><Relationship Type="http://schemas.openxmlformats.org/officeDocument/2006/relationships/image" Target="/ppt/media/image8.png" Id="R6b5e5f47f04642ec" /><Relationship Type="http://schemas.openxmlformats.org/officeDocument/2006/relationships/image" Target="/ppt/media/image9.png" Id="R4159293a6b454fd4" /><Relationship Type="http://schemas.openxmlformats.org/officeDocument/2006/relationships/image" Target="/ppt/media/image10.png" Id="Rbafc7e69957f45b6" /><Relationship Type="http://schemas.openxmlformats.org/officeDocument/2006/relationships/notesSlide" Target="/ppt/notesSlides/notesSlide14.xml" Id="R68244d61c0b34b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b753cb6184c00" /><Relationship Type="http://schemas.openxmlformats.org/officeDocument/2006/relationships/notesSlide" Target="/ppt/notesSlides/notesSlide15.xml" Id="Re30a66cd1d4a4a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cdf59cbcb4f79" /><Relationship Type="http://schemas.openxmlformats.org/officeDocument/2006/relationships/notesSlide" Target="/ppt/notesSlides/notesSlide16.xml" Id="R4b937ecf1fad453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26010530c4482" /><Relationship Type="http://schemas.openxmlformats.org/officeDocument/2006/relationships/notesSlide" Target="/ppt/notesSlides/notesSlide17.xml" Id="R751dbbc3659f49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ABF8C-B868-429D-8B29-89E42C9C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4"/>
          </a:solidFill>
          <a:ln xmlns:a="http://schemas.openxmlformats.org/drawingml/2006/main" w="9525">
            <a:solidFill>
              <a:srgbClr val="16B8C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85CBA-878F-4C71-AAAA-C3958B7F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CampusFix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92569-F320-44DA-8F7E-AE309E03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7E5F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7E5F6"/>
                </a:solidFill>
                <a:latin typeface="Arial"/>
                <a:ea typeface="Arial"/>
                <a:cs typeface="Arial"/>
              </a:rPr>
              <a:t>A Role-Based College Complaint and</a:t>
            </a:r>
          </a:p>
          <a:p xmlns:a="http://schemas.openxmlformats.org/drawingml/2006/main">
            <a:pPr>
              <a:defRPr sz="2400" b="1">
                <a:solidFill>
                  <a:srgbClr val="D7E5F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7E5F6"/>
                </a:solidFill>
                <a:latin typeface="Arial"/>
                <a:ea typeface="Arial"/>
                <a:cs typeface="Arial"/>
              </a:rPr>
              <a:t>Maintenance Management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663A6-7C02-4D66-ABC5-FF8B77AA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8EE9E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EE9EF"/>
                </a:solidFill>
                <a:latin typeface="Arial"/>
                <a:ea typeface="Arial"/>
                <a:cs typeface="Arial"/>
              </a:rPr>
              <a:t>Fourth-Year CSE Mini Project  |  Academic Session 2026-27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74044-E5F4-488D-BE35-739150C8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[Student Name]  •  [Roll Number]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Guide: [Faculty Guide Name]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C0540-1AA1-4FF0-B17F-D15E1DC4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38250"/>
            <a:ext cx="200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67A17-F510-4421-A74A-258289E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00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ASSIGN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E19D1-7E4D-48B6-9D75-4C49706E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00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7E8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RESOLVE</a:t>
            </a:r>
          </a:p>
        </p:txBody>
      </p:sp>
      <p:cxnSp>
        <p:nvCxnSpPr>
          <p:cNvPr id="19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858375" y="201930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cxnSp>
        <p:nvCxnSpPr>
          <p:cNvPr id="20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858375" y="32575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338456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AB79C-9811-4333-80AD-D7D3594F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4"/>
          </a:solidFill>
          <a:ln xmlns:a="http://schemas.openxmlformats.org/drawingml/2006/main" w="9525">
            <a:solidFill>
              <a:srgbClr val="16B8C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7D3DE-437A-4525-A8F4-9CB21F32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D6AE0-0442-4741-94E2-0F3C272B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Informal reporting loses ownership, status, and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EE8DC-A79C-4BA7-81F5-2B1955CD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391AE-98BB-46F7-8B6F-CC5326D4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57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 maintenance issue may be reported quickly—then become difficult to trace.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83099-1F47-4158-80C2-F1A24E49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5905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No unique ticket or shared source of truth</a:t>
            </a:r>
          </a:p>
          <a:p xmlns:a="http://schemas.openxmlformats.org/drawingml/2006/main">
            <a:pPr>
              <a:defRPr sz="17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Unclear assignment and responsibility</a:t>
            </a:r>
          </a:p>
          <a:p xmlns:a="http://schemas.openxmlformats.org/drawingml/2006/main">
            <a:pPr>
              <a:defRPr sz="17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No permanent record of status changes</a:t>
            </a:r>
          </a:p>
          <a:p xmlns:a="http://schemas.openxmlformats.org/drawingml/2006/main">
            <a:pPr>
              <a:defRPr sz="17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Students cannot see progress</a:t>
            </a:r>
          </a:p>
          <a:p xmlns:a="http://schemas.openxmlformats.org/drawingml/2006/main">
            <a:pPr>
              <a:defRPr sz="17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Administrators lack workload evidence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1f5488d354b47"/>
          <a:stretch xmlns:a="http://schemas.openxmlformats.org/drawingml/2006/main"/>
        </p:blipFill>
        <p:spPr>
          <a:xfrm xmlns:a="http://schemas.openxmlformats.org/drawingml/2006/main">
            <a:off x="7239000" y="1710415"/>
            <a:ext cx="4238625" cy="3246669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42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1A19D-E138-49D3-B1B1-8D72EDC3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4"/>
          </a:solidFill>
          <a:ln xmlns:a="http://schemas.openxmlformats.org/drawingml/2006/main" w="9525">
            <a:solidFill>
              <a:srgbClr val="16B8C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CE438-8611-4A51-9154-DA67B5CE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Why CampusFix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B7E81-AF82-451A-9CE7-2EC8BD69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One shared ticket from report to verified completion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5B501-1504-40A2-9233-E213EF1B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86B67-8BF2-43ED-8003-07BDCCBB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E0CB4-BE42-4D11-AEE3-1BE58174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524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9C5A0-1533-430D-AC9D-2A9A27B7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92405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Unique ticket and permanent timeline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FBC48-4068-41F0-AEE1-A366201D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B8C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B8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478DE-009F-4EFF-BA84-40E074F2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051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Responsibility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AD501-6CE2-4B50-9404-977B3F81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05175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Role-specific assignment and 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40250-BE7C-4595-9F45-6B9E3055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B9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6B97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77FA9-F337-4003-BFD9-AF1FA3F9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86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E10D13-A004-44D8-B04A-B1C6DF2A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8630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Notifications, analytics, and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85D88C-116B-481C-A06F-29F50179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Outcome: every accepted complaint has an owner, a state, and an inspectable history.</a:t>
            </a:r>
          </a:p>
        </p:txBody>
      </p:sp>
    </p:spTree>
    <p:extLst>
      <p:ext uri="{BB962C8B-B14F-4D97-AF65-F5344CB8AC3E}">
        <p14:creationId xmlns:p14="http://schemas.microsoft.com/office/powerpoint/2010/main" val="9908443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1BE1A-B3D6-4531-8B04-7990FBD0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4"/>
          </a:solidFill>
          <a:ln xmlns:a="http://schemas.openxmlformats.org/drawingml/2006/main" w="9525">
            <a:solidFill>
              <a:srgbClr val="16B8C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0EF95-CEE1-4BDF-AAC5-DA2B994B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Project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0C654-A8AA-4DBF-8DD1-4431FB38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BD821-4FED-4395-A572-6B022D08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9906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Centralise campus maintenance complaints</a:t>
            </a:r>
          </a:p>
          <a:p xmlns:a="http://schemas.openxmlformats.org/drawingml/2006/main">
            <a:pPr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Enforce Student, Staff, and Administrator permissions</a:t>
            </a:r>
          </a:p>
          <a:p xmlns:a="http://schemas.openxmlformats.org/drawingml/2006/main">
            <a:pPr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Control the complaint lifecycle through valid transitions</a:t>
            </a:r>
          </a:p>
          <a:p xmlns:a="http://schemas.openxmlformats.org/drawingml/2006/main">
            <a:pPr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Preserve permanent workflow history</a:t>
            </a:r>
          </a:p>
          <a:p xmlns:a="http://schemas.openxmlformats.org/drawingml/2006/main">
            <a:pPr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Provide transparent priority and private notifications</a:t>
            </a:r>
          </a:p>
          <a:p xmlns:a="http://schemas.openxmlformats.org/drawingml/2006/main">
            <a:pPr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Measure outcomes through feedback, analytics, and reports</a:t>
            </a:r>
          </a:p>
          <a:p xmlns:a="http://schemas.openxmlformats.org/drawingml/2006/main">
            <a:pPr>
              <a:defRPr sz="18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Verify behaviour with automated and live HTTP tests</a:t>
            </a:r>
          </a:p>
        </p:txBody>
      </p:sp>
    </p:spTree>
    <p:extLst>
      <p:ext uri="{BB962C8B-B14F-4D97-AF65-F5344CB8AC3E}">
        <p14:creationId xmlns:p14="http://schemas.microsoft.com/office/powerpoint/2010/main" val="19274859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851AAB-AE24-4B6E-9DF5-947C488D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4"/>
          </a:solidFill>
          <a:ln xmlns:a="http://schemas.openxmlformats.org/drawingml/2006/main" w="9525">
            <a:solidFill>
              <a:srgbClr val="16B8C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3666E-A747-40CC-8B2F-E8D11A67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Existing Problems and CampusFix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C6122-F5EE-439C-B7DF-46AE3074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5DB7E-B030-4182-AD2B-1B0760C7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2D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2D20"/>
                </a:solidFill>
                <a:latin typeface="Arial"/>
                <a:ea typeface="Arial"/>
                <a:cs typeface="Arial"/>
              </a:rPr>
              <a:t>Existing approach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993D8-A49D-44AB-B08C-92087A06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811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CampusFix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07ACA-4595-4E15-AC6C-A4522754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Verbal or scattered messages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4D7F7-A890-42E4-B83F-EA8AC509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478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B8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B8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0AE9D-285E-43A4-9DB5-4B83890F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One searchable ticket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ADA4B-EB85-4CBA-87D1-4A809CEE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9082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No clear 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45463-730A-4230-8B95-414E86C5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908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B8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B8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4EB21F-B204-44DA-94EB-10F7D6D8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9082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Controlled assignment to active Staff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2160A-2966-401A-892D-4CBB6AD2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3377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Status known only by asking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8516F-9EE8-476C-BE36-171F3954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337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B8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B8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999EF-6500-4C85-91E0-28DCD8C0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3377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Live status, timeline, notifications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76052-A0F4-4D67-9043-3472FA9D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7672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Subjective urgency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E62A12-B842-400F-9AF0-C32F53DA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767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B8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B8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CCB41-EE08-438B-8BD7-9BB30E79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7672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Explainable priority 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9EFCF8-29D1-49DF-9E51-B14211A9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1967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No review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0861EA-38AB-4EC3-AAD3-D8F60159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9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B8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B8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112B3-8563-45D4-990C-6C231C91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1967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Analytics, feedback, CSV, print reports</a:t>
            </a:r>
          </a:p>
        </p:txBody>
      </p:sp>
    </p:spTree>
    <p:extLst>
      <p:ext uri="{BB962C8B-B14F-4D97-AF65-F5344CB8AC3E}">
        <p14:creationId xmlns:p14="http://schemas.microsoft.com/office/powerpoint/2010/main" val="13091776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21BB4-20CF-43D4-AA84-1792A9BF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4"/>
          </a:solidFill>
          <a:ln xmlns:a="http://schemas.openxmlformats.org/drawingml/2006/main" w="9525">
            <a:solidFill>
              <a:srgbClr val="16B8C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77C80-3EFF-4E99-83CF-2769D133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User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00250-49A9-46A8-A910-4EF2C245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Permissions are enforced on the server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95C6F-1317-4DE5-BBDA-20E9AEF2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F35B5-F2F9-44DF-AD68-7F0EB378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STUDENT</a:t>
            </a:r>
          </a:p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Submit and track own tickets</a:t>
            </a:r>
          </a:p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Submit feedback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BF665-0A91-4816-A25A-C4C7136C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MAINTENANCE STAFF</a:t>
            </a:r>
          </a:p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View assigned work</a:t>
            </a:r>
          </a:p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Start and resolve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8CE83-1D8F-4ED1-8903-4E6046F1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DF7F8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ADMINISTRATOR</a:t>
            </a:r>
          </a:p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Assign and control workflow</a:t>
            </a:r>
          </a:p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Analytics and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B17AF-1326-42EA-BAC6-5E1CAA00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953000"/>
            <a:ext cx="542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7E8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Server-side role, ownership, and assignment checks</a:t>
            </a:r>
          </a:p>
        </p:txBody>
      </p:sp>
      <p:cxnSp>
        <p:nvCxnSpPr>
          <p:cNvPr id="20" name=""/>
          <p:cNvCxnSpPr>
            <a:stCxn xmlns:a="http://schemas.openxmlformats.org/drawingml/2006/main" id="5" idx="2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86000" y="4191000"/>
            <a:ext cx="1095375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cxnSp>
        <p:nvCxnSpPr>
          <p:cNvPr id="21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41910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8810625" y="4191000"/>
            <a:ext cx="1095375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627407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D7C6B-90AC-48A9-86D6-060C0B49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4"/>
          </a:solidFill>
          <a:ln xmlns:a="http://schemas.openxmlformats.org/drawingml/2006/main" w="9525">
            <a:solidFill>
              <a:srgbClr val="16B8C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74AF2-2802-4F9C-94BC-18EAB70B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27834-BD6A-469D-8898-9FC959DD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37587-5EBD-4D1B-85FE-42552F1C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Users</a:t>
            </a:r>
          </a:p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F5B71-51D2-4FE2-8500-0245D19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3362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7F8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Django Templates</a:t>
            </a:r>
          </a:p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Bootstrap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001DD-68E3-447A-A6BB-5EE4AB34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43125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Django Application</a:t>
            </a:r>
          </a:p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Views • Forms • Services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44DFF-3789-4047-995A-5D1E6F50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19250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F7E8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SQLite</a:t>
            </a:r>
          </a:p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65A58-D2E8-4F50-B796-FD0C1CCA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Local Media</a:t>
            </a:r>
          </a:p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476500" y="29051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238750" y="29051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8382000" y="2095500"/>
            <a:ext cx="76200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382000" y="2905125"/>
            <a:ext cx="76200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7F1C3-8CD0-44A1-BC82-5A0840D2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383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8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HTTP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2A2F4-A806-4E65-81F0-E98FA024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068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C10EE-5EB5-46FC-B171-A5F2ABFE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validated files</a:t>
            </a:r>
          </a:p>
        </p:txBody>
      </p:sp>
    </p:spTree>
    <p:extLst>
      <p:ext uri="{BB962C8B-B14F-4D97-AF65-F5344CB8AC3E}">
        <p14:creationId xmlns:p14="http://schemas.microsoft.com/office/powerpoint/2010/main" val="19701798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33AE41-54ED-4E5D-A0C5-B8324FC8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4"/>
          </a:solidFill>
          <a:ln xmlns:a="http://schemas.openxmlformats.org/drawingml/2006/main" w="9525">
            <a:solidFill>
              <a:srgbClr val="16B8C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F9545-9C03-4BFB-8709-F314BA35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Complaint Lifecycle and Role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864F1-CFB4-456E-BF95-0AEE479D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E3E00-0569-4319-8626-83F83E5D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1476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Submitted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22CE7-9AE6-41F3-B79A-58A36B03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90750"/>
            <a:ext cx="1476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Under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0E1FC-7131-48F6-9141-F1CA6D0F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190750"/>
            <a:ext cx="1476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Assigned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EF857-3719-471B-BBB9-DEB8F28D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90750"/>
            <a:ext cx="1476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63F26-E0B7-4B8E-A05E-350281C6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90750"/>
            <a:ext cx="1476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DF7E8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Resolved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75EDF-F933-4BD1-938B-9D6465B2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90750"/>
            <a:ext cx="1476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DF7E8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Closed</a:t>
            </a:r>
          </a:p>
        </p:txBody>
      </p:sp>
      <p:cxnSp>
        <p:nvCxnSpPr>
          <p:cNvPr id="3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00250" y="259556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10000" y="259556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259556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429500" y="259556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39250" y="259556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D7275-0086-4117-A6E9-2A2A6A77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1714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Rejected</a:t>
            </a:r>
          </a:p>
        </p:txBody>
      </p:sp>
      <p:cxnSp>
        <p:nvCxnSpPr>
          <p:cNvPr id="36" name=""/>
          <p:cNvCxnSpPr>
            <a:stCxn xmlns:a="http://schemas.openxmlformats.org/drawingml/2006/main" id="4" idx="2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262063" y="3000375"/>
            <a:ext cx="1976438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5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071813" y="3000375"/>
            <a:ext cx="1023938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3F3BC-DC68-40DC-81F2-956552DE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Administrator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B00936-BA90-48C2-80FD-3C0BE003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763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2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B6200"/>
                </a:solidFill>
                <a:latin typeface="Arial"/>
                <a:ea typeface="Arial"/>
                <a:cs typeface="Arial"/>
              </a:rPr>
              <a:t>Maintenance Staff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3B841D-07C0-4788-B10D-C171744A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292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Every successful transition appends a permanent history event.</a:t>
            </a:r>
          </a:p>
        </p:txBody>
      </p:sp>
    </p:spTree>
    <p:extLst>
      <p:ext uri="{BB962C8B-B14F-4D97-AF65-F5344CB8AC3E}">
        <p14:creationId xmlns:p14="http://schemas.microsoft.com/office/powerpoint/2010/main" val="20601347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D534D4-15E6-4FEC-A78E-12883E62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4"/>
          </a:solidFill>
          <a:ln xmlns:a="http://schemas.openxmlformats.org/drawingml/2006/main" w="9525">
            <a:solidFill>
              <a:srgbClr val="16B8C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9B141-E71E-4EE6-8F16-1DDED3FD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395A5-A72E-468F-83F9-C2057402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Seven connected models preserve identity, workflow, and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EAC77-C996-46D2-BF82-8745A581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5D585-4017-4F92-A7A1-B29A0778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19375"/>
            <a:ext cx="2381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Complaint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E8B01-B25C-4888-B8E6-465DF72C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809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94A30-6329-4121-9192-A454DEBE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8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ComplaintCategory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6D9F2-59CB-46EC-98BF-3D4CFB43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8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CampusLocation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4FE4E-5B92-443C-B004-25E7AB7E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90625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ComplaintHistory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1E41F-FBD3-4BEE-86E7-5E6A823E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0375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Notification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7BEBC-EFE4-4E90-8985-7BCA6701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10125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E8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ComplaintFeedback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571750" y="1809750"/>
            <a:ext cx="2238375" cy="130968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857500" y="3119438"/>
            <a:ext cx="1952625" cy="35718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857500" y="3119438"/>
            <a:ext cx="1952625" cy="20240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191375" y="1571625"/>
            <a:ext cx="1857375" cy="15478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91375" y="3119438"/>
            <a:ext cx="1857375" cy="26193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191375" y="3119438"/>
            <a:ext cx="1857375" cy="207168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E9EB06-FEA2-4C3B-8013-4B28F7A4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621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student / assigned Staff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0E884C-8E81-4BBB-AA60-46813918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24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many events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F97B62-A824-47E6-9AA4-329FB4B5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43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zero or one feedback</a:t>
            </a:r>
          </a:p>
        </p:txBody>
      </p:sp>
    </p:spTree>
    <p:extLst>
      <p:ext uri="{BB962C8B-B14F-4D97-AF65-F5344CB8AC3E}">
        <p14:creationId xmlns:p14="http://schemas.microsoft.com/office/powerpoint/2010/main" val="2724941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C61DAF-AAB4-4459-BBC1-9D1F6C38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4"/>
          </a:solidFill>
          <a:ln xmlns:a="http://schemas.openxmlformats.org/drawingml/2006/main" w="9525">
            <a:solidFill>
              <a:srgbClr val="16B8C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32DA0-63E5-4630-9F2A-6DD5C479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F0F2B-25B6-4C7B-92ED-B029891B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54884-DD93-44F8-824A-493A5EC9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833CD-718A-4EFC-8719-AFB5A141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Application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E9BBA-E60D-48C0-A9BC-97DD3A6A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6687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B8C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B8C4"/>
                </a:solidFill>
                <a:latin typeface="Arial"/>
                <a:ea typeface="Arial"/>
                <a:cs typeface="Arial"/>
              </a:rPr>
              <a:t>Django 6.1.1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E2BDF-B798-4878-89B3-6793B69B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Auth • ORM • forms •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02B1D-65D8-47FD-A5E1-6819C4D7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DEFBF-3742-4CC6-89A2-D6BAC75B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Local transactional database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6B268-4CCD-4FCF-BDB7-87EE7EF7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Bootstrap 5.3.8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AD32D-D707-4DD8-A57A-C5DF3354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Responsive interface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E0E4F-0075-41D6-92F9-D5C95D59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766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B8C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B8C4"/>
                </a:solidFill>
                <a:latin typeface="Arial"/>
                <a:ea typeface="Arial"/>
                <a:cs typeface="Arial"/>
              </a:rPr>
              <a:t>Chart.js 4.4.7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6969C-3D8C-42A1-BDFB-D4BAE98E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Administrator charts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B199C-7323-41B8-AC3E-E6DC1B4E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766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Pillow 11.3.0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32EB9-E6E3-4C7F-872B-9CDF3A00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00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Image content validation</a:t>
            </a:r>
          </a:p>
        </p:txBody>
      </p:sp>
    </p:spTree>
    <p:extLst>
      <p:ext uri="{BB962C8B-B14F-4D97-AF65-F5344CB8AC3E}">
        <p14:creationId xmlns:p14="http://schemas.microsoft.com/office/powerpoint/2010/main" val="14674924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CBD72-66DD-4A91-AEA4-625964B2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4"/>
          </a:solidFill>
          <a:ln xmlns:a="http://schemas.openxmlformats.org/drawingml/2006/main" w="9525">
            <a:solidFill>
              <a:srgbClr val="16B8C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57D52-4DF7-48D7-B672-0092BFFC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Major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5B943-8838-43DA-8930-6F7721D2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6577ad1894004"/>
          <a:stretch xmlns:a="http://schemas.openxmlformats.org/drawingml/2006/main"/>
        </p:blipFill>
        <p:spPr>
          <a:xfrm xmlns:a="http://schemas.openxmlformats.org/drawingml/2006/main">
            <a:off x="945657" y="1381125"/>
            <a:ext cx="4442812" cy="4476750"/>
          </a:xfrm>
          <a:prstGeom xmlns:a="http://schemas.openxmlformats.org/drawingml/2006/main" prst="round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908cc36824c37"/>
          <a:stretch xmlns:a="http://schemas.openxmlformats.org/drawingml/2006/main"/>
        </p:blipFill>
        <p:spPr>
          <a:xfrm xmlns:a="http://schemas.openxmlformats.org/drawingml/2006/main">
            <a:off x="6381750" y="1394817"/>
            <a:ext cx="5286375" cy="4449366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564F2-B27A-4289-B84D-98F1694D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924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Student evidence and timeline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3C129-A96E-46E5-A477-A07604F2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924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Administrator controls and audit trail</a:t>
            </a:r>
          </a:p>
        </p:txBody>
      </p:sp>
    </p:spTree>
    <p:extLst>
      <p:ext uri="{BB962C8B-B14F-4D97-AF65-F5344CB8AC3E}">
        <p14:creationId xmlns:p14="http://schemas.microsoft.com/office/powerpoint/2010/main" val="9640207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C0F2C-F22C-4BB2-A3FA-EA9D09E4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4"/>
          </a:solidFill>
          <a:ln xmlns:a="http://schemas.openxmlformats.org/drawingml/2006/main" w="9525">
            <a:solidFill>
              <a:srgbClr val="16B8C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F9C69-5517-4C85-AECF-8C9D8B24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Priority Scoring and Notifications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87F95-5938-4206-934B-A42AF6AF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36707-5FAE-47B4-8EEA-BFF76374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238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Urgency</a:t>
            </a:r>
          </a:p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10 • 25 • 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ACEA8-702D-469E-8782-4C31668D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2238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F7F8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Category</a:t>
            </a:r>
          </a:p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10 to 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58695-13AB-4659-B84C-755DE836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2238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Image evidence</a:t>
            </a:r>
          </a:p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+5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4281E-3E58-4736-BC8D-CC676615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Total Score</a:t>
            </a:r>
          </a:p>
        </p:txBody>
      </p: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57500" y="2333625"/>
            <a:ext cx="133350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857500" y="3524250"/>
            <a:ext cx="133350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857500" y="3524250"/>
            <a:ext cx="1333500" cy="2047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A137C-86B6-4691-A1C3-BAAEE4A4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DF7E8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Low &lt;30</a:t>
            </a:r>
          </a:p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Medium 30–49</a:t>
            </a:r>
          </a:p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High 50–69</a:t>
            </a:r>
          </a:p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Critical ≥70</a:t>
            </a:r>
          </a:p>
        </p:txBody>
      </p: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381750" y="3476625"/>
            <a:ext cx="12382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C4"/>
            </a:solidFill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79E34-A8A2-4C59-96B0-36DE511A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14350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Notifications are private database records created for affected users and protected by deduplication keys.</a:t>
            </a:r>
          </a:p>
        </p:txBody>
      </p:sp>
    </p:spTree>
    <p:extLst>
      <p:ext uri="{BB962C8B-B14F-4D97-AF65-F5344CB8AC3E}">
        <p14:creationId xmlns:p14="http://schemas.microsoft.com/office/powerpoint/2010/main" val="17064166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F76D5-6FD1-48E5-8390-079F6813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4"/>
          </a:solidFill>
          <a:ln xmlns:a="http://schemas.openxmlformats.org/drawingml/2006/main" w="9525">
            <a:solidFill>
              <a:srgbClr val="16B8C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5CA93-D860-4496-AE25-1F004AAF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Analytics and Reporting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0E78F-BE6C-4BFF-8D4F-5E1E3E9F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Live database records become operational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64409-2CD2-4A48-86A7-D3456FC7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fd39d75b44717"/>
          <a:stretch xmlns:a="http://schemas.openxmlformats.org/drawingml/2006/main"/>
        </p:blipFill>
        <p:spPr>
          <a:xfrm xmlns:a="http://schemas.openxmlformats.org/drawingml/2006/main">
            <a:off x="1274014" y="1428750"/>
            <a:ext cx="3786098" cy="4191000"/>
          </a:xfrm>
          <a:prstGeom xmlns:a="http://schemas.openxmlformats.org/drawingml/2006/main" prst="round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aa345b7bb4365"/>
          <a:stretch xmlns:a="http://schemas.openxmlformats.org/drawingml/2006/main"/>
        </p:blipFill>
        <p:spPr>
          <a:xfrm xmlns:a="http://schemas.openxmlformats.org/drawingml/2006/main">
            <a:off x="7546486" y="1428750"/>
            <a:ext cx="2956903" cy="419100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F9AE5-AC44-4B27-A321-F5DCF99E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34050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Charts plus accessible tables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BADAE-B4FA-4FCF-9778-71065D45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34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Filters • workload • feedback • CSV • print</a:t>
            </a:r>
          </a:p>
        </p:txBody>
      </p:sp>
    </p:spTree>
    <p:extLst>
      <p:ext uri="{BB962C8B-B14F-4D97-AF65-F5344CB8AC3E}">
        <p14:creationId xmlns:p14="http://schemas.microsoft.com/office/powerpoint/2010/main" val="8569576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DA334-8B52-452D-8F83-2F32DD01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4"/>
          </a:solidFill>
          <a:ln xmlns:a="http://schemas.openxmlformats.org/drawingml/2006/main" w="9525">
            <a:solidFill>
              <a:srgbClr val="16B8C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00943-56D8-41E4-9641-B9BDC9F5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Working Demonstration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2B447-0B03-4CCB-8D55-2814DF88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25a122e404e26"/>
          <a:stretch xmlns:a="http://schemas.openxmlformats.org/drawingml/2006/main"/>
        </p:blipFill>
        <p:spPr>
          <a:xfrm xmlns:a="http://schemas.openxmlformats.org/drawingml/2006/main">
            <a:off x="878966" y="1476375"/>
            <a:ext cx="2671194" cy="2190750"/>
          </a:xfrm>
          <a:prstGeom xmlns:a="http://schemas.openxmlformats.org/drawingml/2006/main" prst="round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d9a6587e34781"/>
          <a:stretch xmlns:a="http://schemas.openxmlformats.org/drawingml/2006/main"/>
        </p:blipFill>
        <p:spPr>
          <a:xfrm xmlns:a="http://schemas.openxmlformats.org/drawingml/2006/main">
            <a:off x="4499573" y="1476375"/>
            <a:ext cx="3183330" cy="2190750"/>
          </a:xfrm>
          <a:prstGeom xmlns:a="http://schemas.openxmlformats.org/drawingml/2006/main" prst="round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e5f47f04642ec"/>
          <a:stretch xmlns:a="http://schemas.openxmlformats.org/drawingml/2006/main"/>
        </p:blipFill>
        <p:spPr>
          <a:xfrm xmlns:a="http://schemas.openxmlformats.org/drawingml/2006/main">
            <a:off x="8447525" y="1476375"/>
            <a:ext cx="3059825" cy="2190750"/>
          </a:xfrm>
          <a:prstGeom xmlns:a="http://schemas.openxmlformats.org/drawingml/2006/main" prst="round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9293a6b454fd4"/>
          <a:stretch xmlns:a="http://schemas.openxmlformats.org/drawingml/2006/main"/>
        </p:blipFill>
        <p:spPr>
          <a:xfrm xmlns:a="http://schemas.openxmlformats.org/drawingml/2006/main">
            <a:off x="2652713" y="4095750"/>
            <a:ext cx="3124200" cy="1952625"/>
          </a:xfrm>
          <a:prstGeom xmlns:a="http://schemas.openxmlformats.org/drawingml/2006/main" prst="round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c7e69957f45b6"/>
          <a:stretch xmlns:a="http://schemas.openxmlformats.org/drawingml/2006/main"/>
        </p:blipFill>
        <p:spPr>
          <a:xfrm xmlns:a="http://schemas.openxmlformats.org/drawingml/2006/main">
            <a:off x="6462713" y="4095750"/>
            <a:ext cx="3124200" cy="1952625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1579886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2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04EEF-0F9A-4075-B832-72B3308D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4"/>
          </a:solidFill>
          <a:ln xmlns:a="http://schemas.openxmlformats.org/drawingml/2006/main" w="9525">
            <a:solidFill>
              <a:srgbClr val="16B8C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D3920-B748-4FD4-BFE5-2315D38A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Testing and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4CA2E-8D60-4D70-A837-3A6254D6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End-of-Batch-6 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0126C-0A85-4876-BC71-080C0A41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18BBA-6DC9-47B8-8CD9-782B0729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6B97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46B978"/>
                </a:solidFill>
                <a:latin typeface="Arial"/>
                <a:ea typeface="Arial"/>
                <a:cs typeface="Arial"/>
              </a:rPr>
              <a:t>84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75700-7F6E-4291-BC00-79B455F5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tests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41BF1-6858-4D6F-AA22-8A4615C1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7621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DADCB-9586-4658-90AA-7236D78D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907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79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system-check issues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4F28A-B9D9-4F1D-9B69-5FB82792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B8C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B8C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EDAB4-103E-4800-8F25-D9AACB2B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907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missing migrations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740A7-51E6-4829-8F85-598C9DB2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621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2D07D-621E-4D31-A9D2-0DB630F6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907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admin report HTTP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2BF55-4B0A-4CA4-A24F-4B8275EE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621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D92D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92D20"/>
                </a:solidFill>
                <a:latin typeface="Arial"/>
                <a:ea typeface="Arial"/>
                <a:cs typeface="Arial"/>
              </a:rPr>
              <a:t>403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87FB9-7021-4C1C-A3BE-9296C4C9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907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2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student / staff reports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D4859-4FB1-4B22-86B8-8D3E065C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0001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Model, form, page, ownership, and permission tests</a:t>
            </a:r>
          </a:p>
          <a:p xmlns:a="http://schemas.openxmlformats.org/drawingml/2006/main">
            <a:pPr>
              <a:defRPr sz="17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Controlled workflow and permanent history tests</a:t>
            </a:r>
          </a:p>
          <a:p xmlns:a="http://schemas.openxmlformats.org/drawingml/2006/main">
            <a:pPr>
              <a:defRPr sz="17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Notification, feedback, analytics, and reporting tests</a:t>
            </a:r>
          </a:p>
          <a:p xmlns:a="http://schemas.openxmlformats.org/drawingml/2006/main">
            <a:pPr>
              <a:defRPr sz="17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CSV headers, filters, UTF-8, and formula-safety tests</a:t>
            </a:r>
          </a:p>
          <a:p xmlns:a="http://schemas.openxmlformats.org/drawingml/2006/main">
            <a:pPr>
              <a:defRPr sz="17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Live no-reloader server smoke checks</a:t>
            </a:r>
          </a:p>
        </p:txBody>
      </p:sp>
    </p:spTree>
    <p:extLst>
      <p:ext uri="{BB962C8B-B14F-4D97-AF65-F5344CB8AC3E}">
        <p14:creationId xmlns:p14="http://schemas.microsoft.com/office/powerpoint/2010/main" val="11802699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2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0EF5C-2E74-46E8-8492-D84DD810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4"/>
          </a:solidFill>
          <a:ln xmlns:a="http://schemas.openxmlformats.org/drawingml/2006/main" w="9525">
            <a:solidFill>
              <a:srgbClr val="16B8C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F96CD-634F-455D-9B4C-E8C0AA46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Conclusion and 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10FE8-552C-44C7-8872-A01F9E8F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89A4B-9953-4760-AA5F-98D726DB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762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DF7E8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COMPLETED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F0F23-3FE8-43DD-BA18-F7715E2E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4762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Role-based end-to-end complaint workflow</a:t>
            </a:r>
          </a:p>
          <a:p xmlns:a="http://schemas.openxmlformats.org/drawingml/2006/main">
            <a:pPr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Permanent timeline and private notifications</a:t>
            </a:r>
          </a:p>
          <a:p xmlns:a="http://schemas.openxmlformats.org/drawingml/2006/main">
            <a:pPr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Explainable priority, feedback, analytics, and reports</a:t>
            </a:r>
          </a:p>
          <a:p xmlns:a="http://schemas.openxmlformats.org/drawingml/2006/main">
            <a:pPr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Responsive interface and verified security boundaries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6743C-48D6-469C-A21A-C767CCA8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762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FUTURE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F91BD-5E2C-43C8-9EFE-EF245E20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762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Email and SMS notifications</a:t>
            </a:r>
          </a:p>
          <a:p xmlns:a="http://schemas.openxmlformats.org/drawingml/2006/main">
            <a:pPr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Mobile or progressive web application</a:t>
            </a:r>
          </a:p>
          <a:p xmlns:a="http://schemas.openxmlformats.org/drawingml/2006/main">
            <a:pPr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PostgreSQL, cloud media, HTTPS, backups, and monitoring</a:t>
            </a:r>
          </a:p>
          <a:p xmlns:a="http://schemas.openxmlformats.org/drawingml/2006/main">
            <a:pPr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Predictive maintenance and richer service analytics</a:t>
            </a:r>
          </a:p>
          <a:p xmlns:a="http://schemas.openxmlformats.org/drawingml/2006/main">
            <a:pPr>
              <a:defRPr sz="135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• Multilingual interface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10773-866B-466C-8615-63D0CBAC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Current implementation remains local and intentionally stops before production deployment.</a:t>
            </a:r>
          </a:p>
        </p:txBody>
      </p:sp>
    </p:spTree>
    <p:extLst>
      <p:ext uri="{BB962C8B-B14F-4D97-AF65-F5344CB8AC3E}">
        <p14:creationId xmlns:p14="http://schemas.microsoft.com/office/powerpoint/2010/main" val="5030274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4981A-E28A-44E7-ADD7-F647DF1F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4"/>
          </a:solidFill>
          <a:ln xmlns:a="http://schemas.openxmlformats.org/drawingml/2006/main" w="9525">
            <a:solidFill>
              <a:srgbClr val="16B8C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293F9-A28F-4B60-9F5B-9CFA6732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D45AD-3F62-44C0-82D7-3DBB563A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EE9E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EE9EF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B33D6-DE08-49B1-960C-8DE05848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CampusFix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E8961-3DA2-49A3-A053-A1188514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7E5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7E5F6"/>
                </a:solidFill>
                <a:latin typeface="Arial"/>
                <a:ea typeface="Arial"/>
                <a:cs typeface="Arial"/>
              </a:rPr>
              <a:t>[Student Name]  •  [Roll Number]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8438B-1DCD-44CA-A9B6-64ADE4EE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8C8D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7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68162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2026-09-25T18:06:24.9130000Z</dcterms:created>
  <dcterms:modified xsi:type="dcterms:W3CDTF">2026-09-25T18:06:24.9130000Z</dcterms:modified>
</coreProperties>
</file>