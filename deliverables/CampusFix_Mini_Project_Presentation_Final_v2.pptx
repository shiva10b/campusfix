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01e4053164311" /><Relationship Type="http://schemas.openxmlformats.org/officeDocument/2006/relationships/extended-properties" Target="/docProps/app.xml" Id="R2ede01fe8fb740cf" /><Relationship Type="http://schemas.openxmlformats.org/officeDocument/2006/relationships/officeDocument" Target="/ppt/presentation.xml" Id="Re9f3413af21b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2ddaf3a454bb4"/>
  </p:sldMasterIdLst>
  <p:notesMasterIdLst>
    <p:notesMasterId xmlns:r="http://schemas.openxmlformats.org/officeDocument/2006/relationships" r:id="R185d729bfcc84278"/>
  </p:notesMasterIdLst>
  <p:sldIdLst>
    <p:sldId xmlns:r="http://schemas.openxmlformats.org/officeDocument/2006/relationships" id="256" r:id="R7a24d3236bd04354"/>
    <p:sldId xmlns:r="http://schemas.openxmlformats.org/officeDocument/2006/relationships" id="257" r:id="R0cc18341b5554cbc"/>
    <p:sldId xmlns:r="http://schemas.openxmlformats.org/officeDocument/2006/relationships" id="258" r:id="R64b37c291aa84f18"/>
    <p:sldId xmlns:r="http://schemas.openxmlformats.org/officeDocument/2006/relationships" id="259" r:id="R285be181e7574e6a"/>
    <p:sldId xmlns:r="http://schemas.openxmlformats.org/officeDocument/2006/relationships" id="260" r:id="R8128215c7d394a54"/>
    <p:sldId xmlns:r="http://schemas.openxmlformats.org/officeDocument/2006/relationships" id="261" r:id="R1764ac65f3be46b8"/>
    <p:sldId xmlns:r="http://schemas.openxmlformats.org/officeDocument/2006/relationships" id="262" r:id="Rc1c19125b4894f4b"/>
    <p:sldId xmlns:r="http://schemas.openxmlformats.org/officeDocument/2006/relationships" id="263" r:id="R148b3037397740ac"/>
    <p:sldId xmlns:r="http://schemas.openxmlformats.org/officeDocument/2006/relationships" id="264" r:id="R9061eaa052f54765"/>
    <p:sldId xmlns:r="http://schemas.openxmlformats.org/officeDocument/2006/relationships" id="265" r:id="Rbad61d468fa7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DACFCA41-7221-4674-B144-DCA2F1B7582E}">
  <a:tblStyle styleId="{DACFCA41-7221-4674-B144-DCA2F1B75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c50fe372848e3" /><Relationship Type="http://schemas.openxmlformats.org/officeDocument/2006/relationships/slideMaster" Target="/ppt/slideMasters/slideMaster1.xml" Id="R5192ddaf3a454bb4" /><Relationship Type="http://schemas.openxmlformats.org/officeDocument/2006/relationships/notesMaster" Target="/ppt/notesMasters/notesMaster1.xml" Id="R185d729bfcc84278" /><Relationship Type="http://schemas.openxmlformats.org/officeDocument/2006/relationships/presProps" Target="/ppt/presProps.xml" Id="Rb58b02f210f14813" /><Relationship Type="http://schemas.openxmlformats.org/officeDocument/2006/relationships/tableStyles" Target="/ppt/tableStyles.xml" Id="R64fc2408c9df4a03" /><Relationship Type="http://schemas.openxmlformats.org/officeDocument/2006/relationships/slide" Target="/ppt/slides/slide1.xml" Id="R7a24d3236bd04354" /><Relationship Type="http://schemas.openxmlformats.org/officeDocument/2006/relationships/slide" Target="/ppt/slides/slide2.xml" Id="R0cc18341b5554cbc" /><Relationship Type="http://schemas.openxmlformats.org/officeDocument/2006/relationships/slide" Target="/ppt/slides/slide3.xml" Id="R64b37c291aa84f18" /><Relationship Type="http://schemas.openxmlformats.org/officeDocument/2006/relationships/slide" Target="/ppt/slides/slide4.xml" Id="R285be181e7574e6a" /><Relationship Type="http://schemas.openxmlformats.org/officeDocument/2006/relationships/slide" Target="/ppt/slides/slide5.xml" Id="R8128215c7d394a54" /><Relationship Type="http://schemas.openxmlformats.org/officeDocument/2006/relationships/slide" Target="/ppt/slides/slide6.xml" Id="R1764ac65f3be46b8" /><Relationship Type="http://schemas.openxmlformats.org/officeDocument/2006/relationships/slide" Target="/ppt/slides/slide7.xml" Id="Rc1c19125b4894f4b" /><Relationship Type="http://schemas.openxmlformats.org/officeDocument/2006/relationships/slide" Target="/ppt/slides/slide8.xml" Id="R148b3037397740ac" /><Relationship Type="http://schemas.openxmlformats.org/officeDocument/2006/relationships/slide" Target="/ppt/slides/slide9.xml" Id="R9061eaa052f54765" /><Relationship Type="http://schemas.openxmlformats.org/officeDocument/2006/relationships/slide" Target="/ppt/slides/slide10.xml" Id="Rbad61d468fa7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85b4b47e154c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3e008e41b466c" /><Relationship Type="http://schemas.openxmlformats.org/officeDocument/2006/relationships/notesMaster" Target="/ppt/notesMasters/notesMaster1.xml" Id="R5673cddfa2c14c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38a9e18e84ff5" /><Relationship Type="http://schemas.openxmlformats.org/officeDocument/2006/relationships/notesMaster" Target="/ppt/notesMasters/notesMaster1.xml" Id="R1720177857bc4c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18b4df48c49cb" /><Relationship Type="http://schemas.openxmlformats.org/officeDocument/2006/relationships/notesMaster" Target="/ppt/notesMasters/notesMaster1.xml" Id="R603769b8eabe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ef66602c34ecd" /><Relationship Type="http://schemas.openxmlformats.org/officeDocument/2006/relationships/notesMaster" Target="/ppt/notesMasters/notesMaster1.xml" Id="Rdc09f74b16be48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4edc1160924965" /><Relationship Type="http://schemas.openxmlformats.org/officeDocument/2006/relationships/notesMaster" Target="/ppt/notesMasters/notesMaster1.xml" Id="Rb8862c36d7e9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f2444461e64a4f" /><Relationship Type="http://schemas.openxmlformats.org/officeDocument/2006/relationships/notesMaster" Target="/ppt/notesMasters/notesMaster1.xml" Id="R171791e9953941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e57ba63404731" /><Relationship Type="http://schemas.openxmlformats.org/officeDocument/2006/relationships/notesMaster" Target="/ppt/notesMasters/notesMaster1.xml" Id="R3ed0da1ca28f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c55cd9865b41b1" /><Relationship Type="http://schemas.openxmlformats.org/officeDocument/2006/relationships/notesMaster" Target="/ppt/notesMasters/notesMaster1.xml" Id="R0410a6e44df842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c9d8831a304a83" /><Relationship Type="http://schemas.openxmlformats.org/officeDocument/2006/relationships/notesMaster" Target="/ppt/notesMasters/notesMaster1.xml" Id="R772fe9be2b6f4b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568d359cb046f3" /><Relationship Type="http://schemas.openxmlformats.org/officeDocument/2006/relationships/notesMaster" Target="/ppt/notesMasters/notesMaster1.xml" Id="R4c8e1aed4b5b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1ef99bcfb467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ebc469c5c49d1" /><Relationship Type="http://schemas.openxmlformats.org/officeDocument/2006/relationships/slideLayout" Target="/ppt/slideLayouts/slideLayout1.xml" Id="Ra0b1587b717a45c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b1587b717a45c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4f23e05b4c95" /><Relationship Type="http://schemas.openxmlformats.org/officeDocument/2006/relationships/image" Target="/ppt/media/image.png" Id="Rc003d7a3ac3c4448" /><Relationship Type="http://schemas.openxmlformats.org/officeDocument/2006/relationships/notesSlide" Target="/ppt/notesSlides/notesSlide1.xml" Id="R1bf56febd4ae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012181ad2425e" /><Relationship Type="http://schemas.openxmlformats.org/officeDocument/2006/relationships/notesSlide" Target="/ppt/notesSlides/notesSlide2.xml" Id="R8f703e0a993b4d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1f3a314984e2f" /><Relationship Type="http://schemas.openxmlformats.org/officeDocument/2006/relationships/notesSlide" Target="/ppt/notesSlides/notesSlide3.xml" Id="R9ba085ca72d1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a2de346a44308" /><Relationship Type="http://schemas.openxmlformats.org/officeDocument/2006/relationships/notesSlide" Target="/ppt/notesSlides/notesSlide4.xml" Id="Rbd95da52e630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f726849234a3f" /><Relationship Type="http://schemas.openxmlformats.org/officeDocument/2006/relationships/notesSlide" Target="/ppt/notesSlides/notesSlide5.xml" Id="Rfb704fe02b2c44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afdd87d4a43a7" /><Relationship Type="http://schemas.openxmlformats.org/officeDocument/2006/relationships/notesSlide" Target="/ppt/notesSlides/notesSlide6.xml" Id="R273e43c62911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2b6ec1ca84afb" /><Relationship Type="http://schemas.openxmlformats.org/officeDocument/2006/relationships/notesSlide" Target="/ppt/notesSlides/notesSlide7.xml" Id="R085bf1c0b7e6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5a6fa8e54fdb" /><Relationship Type="http://schemas.openxmlformats.org/officeDocument/2006/relationships/notesSlide" Target="/ppt/notesSlides/notesSlide8.xml" Id="Ra6035c58c0d04d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48ede1bf43ec" /><Relationship Type="http://schemas.openxmlformats.org/officeDocument/2006/relationships/notesSlide" Target="/ppt/notesSlides/notesSlide9.xml" Id="Rb7e593e538824a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0d6733a1e4d25" /><Relationship Type="http://schemas.openxmlformats.org/officeDocument/2006/relationships/notesSlide" Target="/ppt/notesSlides/notesSlide10.xml" Id="R7cafa93d74b2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8C3F8FD-2187-451E-9CFD-92CA6E83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8039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6157C231-8C15-40ED-8FA1-D667A7A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3EE">
              <a:alpha val="1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A81AD975-CCCA-449E-958E-06EC2D4A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1036015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27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LLOYD INSTITUTE OF ENGINEERING &amp; TECHNOLOGY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101B241D-4EE5-4635-8742-C870BF57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821"/>
            <a:ext cx="10360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sz="1650" b="0" i="0" u="non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Greater Noida  |  Department of Computer Science and Artificial Intelligence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27DAFDF-15F9-4A96-8C1B-8423DFF2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5775"/>
            <a:ext cx="103602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sz="2000" b="1" i="0" u="non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B.TECH FOURTH YEAR MINI PROJECT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A38489DA-1E8C-48CE-9BF1-60A3E038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00400"/>
            <a:ext cx="9628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>
              <a:alpha val="588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597085D0-7292-4301-B4AA-AA8FB613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00400"/>
            <a:ext cx="9262872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sz="3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CAMPUSFIX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7BCECB99-029D-411E-8F19-0D408A1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036015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sz="1500" b="0" i="1" u="non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Campus Complaint and Maintenance Management System  |  Session 2026-27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39" name="Google Shape;24;p3"/>
          <p:cNvCxnSpPr/>
          <p:nvPr/>
        </p:nvCxnSpPr>
        <p:spPr>
          <a:xfrm xmlns:a="http://schemas.openxmlformats.org/drawingml/2006/main">
            <a:off x="6094476" y="5257800"/>
            <a:ext cx="0" cy="118872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6A9F9680-3E2A-42A0-9F7B-678056CF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sz="1150" b="1" i="0" u="none" cap="none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GUIDE NAME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9F9D3127-3AA1-4B72-B998-3BF712E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784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Devendra Gautam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CC8BE7E0-597A-4370-9AF2-27FD074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200" b="0" i="0" u="non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Assistant Professor, Department of CSAI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4CCFA22A-5D94-4F3A-9AF2-4B69C501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451" y="5303525"/>
            <a:ext cx="40221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sz="1250" b="1">
                <a:solidFill>
                  <a:srgbClr val="6FB6CE"/>
                </a:solidFill>
                <a:latin typeface="Calibri"/>
                <a:ea typeface="Calibri"/>
                <a:cs typeface="Calibri"/>
              </a:rPr>
              <a:t>SUBMITTED BY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F928165B-5B7F-42BD-8C84-2CF35D4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451" y="5577850"/>
            <a:ext cx="4022100" cy="100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Snehil Shukla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Roll No. 2301721530023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Section A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5" name="Google Shape;30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03d7a3ac3c44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91563" y="424800"/>
            <a:ext cx="1005835" cy="99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61564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95833CD-B3C4-4102-A539-C2A91A0A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5A5B7831-31D3-473A-9D3F-D79B780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C04DE78A-6BFF-4163-A1ED-CF5569E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9B2EC75-5C93-4469-9D05-808B53FE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C1D8F52C-F30D-41F3-B7A1-195791C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OVERVIEW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4C668747-6ADB-49EC-BC8A-9D2FDE09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CampusFix Presentation Agenda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34536A47-E25F-4E8D-BDFC-DB2F0199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5927EEC3-633E-45F8-A1E7-50FFBF6E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D7CC7A70-4F4E-45CB-976F-A74F03B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581912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53E282F3-F8E3-4691-B1C4-CAA2D78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EBFFD514-C558-4F27-96B8-5AAF5476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64C5301E-7067-45E0-84F8-5217DD6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2240280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Objectives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F2EB97B6-DCF2-4B2D-9E3F-1E0A1F86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69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10E51A68-4F0C-4E45-94B6-F93D8556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69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6362F68B-D8C0-4D52-9FAF-507E87E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2898648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Technology Stack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47420CF7-24D7-44C2-AE11-215EA5CC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530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C4DFBE03-49B3-449C-81ED-EF381416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530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4">
            <a:extLst xmlns:a="http://schemas.openxmlformats.org/drawingml/2006/main">
              <a:ext uri="{FF2B5EF4-FFF2-40B4-BE49-F238E27FC236}">
                <a16:creationId xmlns:a16="http://schemas.microsoft.com/office/drawing/2014/main" id="{F4660246-5543-45E3-8067-E4267406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557016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Literature Survey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69990685-ED83-432E-AAFC-F77BFBE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002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06040E59-1C72-43BD-B5B4-B2D7BB8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002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4">
            <a:extLst xmlns:a="http://schemas.openxmlformats.org/drawingml/2006/main">
              <a:ext uri="{FF2B5EF4-FFF2-40B4-BE49-F238E27FC236}">
                <a16:creationId xmlns:a16="http://schemas.microsoft.com/office/drawing/2014/main" id="{A7492452-B7FB-4BE6-B021-B2408940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581912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System Workflow and Architecture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6B10E7B4-57BF-49A6-BBBE-AB9BE3B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585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E8F4E549-07C6-4FA1-84A8-A01E1E32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25856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4">
            <a:extLst xmlns:a="http://schemas.openxmlformats.org/drawingml/2006/main">
              <a:ext uri="{FF2B5EF4-FFF2-40B4-BE49-F238E27FC236}">
                <a16:creationId xmlns:a16="http://schemas.microsoft.com/office/drawing/2014/main" id="{5FF66FB2-2158-4BF2-9273-71309DE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240280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Expected Outcome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13B4C600-3FC3-4EEF-A11C-33CDC15D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169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6F586606-218C-4386-BD59-49511EC0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169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D878E43D-E545-49DD-91F2-E5A3971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2898648"/>
            <a:ext cx="4297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References and Conclusion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FA52E883-E399-4C98-8368-1C2E7336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525E947E-8C96-4DEE-AA8E-A40758C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2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904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6D5464A2-0548-4FB7-9D37-357C81D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9E21F1A7-1F85-48FA-A4B1-18C48D2E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3A0CF9AD-61AE-467C-898C-006CDB15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p5">
            <a:extLst xmlns:a="http://schemas.openxmlformats.org/drawingml/2006/main">
              <a:ext uri="{FF2B5EF4-FFF2-40B4-BE49-F238E27FC236}">
                <a16:creationId xmlns:a16="http://schemas.microsoft.com/office/drawing/2014/main" id="{AD483AFC-43C9-43C3-898B-A87F524D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5">
            <a:extLst xmlns:a="http://schemas.openxmlformats.org/drawingml/2006/main">
              <a:ext uri="{FF2B5EF4-FFF2-40B4-BE49-F238E27FC236}">
                <a16:creationId xmlns:a16="http://schemas.microsoft.com/office/drawing/2014/main" id="{112C7DDB-B0E3-4961-A7E7-E2FFEEC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02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5">
            <a:extLst xmlns:a="http://schemas.openxmlformats.org/drawingml/2006/main">
              <a:ext uri="{FF2B5EF4-FFF2-40B4-BE49-F238E27FC236}">
                <a16:creationId xmlns:a16="http://schemas.microsoft.com/office/drawing/2014/main" id="{17327D48-38D2-4E24-9F4B-BD89F0A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Problem Statement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Google Shape;76;p5">
            <a:extLst xmlns:a="http://schemas.openxmlformats.org/drawingml/2006/main">
              <a:ext uri="{FF2B5EF4-FFF2-40B4-BE49-F238E27FC236}">
                <a16:creationId xmlns:a16="http://schemas.microsoft.com/office/drawing/2014/main" id="{D21F1BA8-4494-4726-83FB-8BC6B0F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1543875"/>
            <a:ext cx="9849000" cy="44454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5">
            <a:extLst xmlns:a="http://schemas.openxmlformats.org/drawingml/2006/main">
              <a:ext uri="{FF2B5EF4-FFF2-40B4-BE49-F238E27FC236}">
                <a16:creationId xmlns:a16="http://schemas.microsoft.com/office/drawing/2014/main" id="{13679A31-F0B4-46C6-B4A1-DD31AD7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75" y="1772638"/>
            <a:ext cx="9106200" cy="421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300" b="0" i="1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 maintenance issues are often reported through calls, messages or paper registers. Students cannot easily track progress, staff may lack clear assignment details, and administrators cannot measure response performance.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300" b="0" i="1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300" b="0" i="1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provides one secure workflow for reporting infrastructure issues, assigning maintenance work, recording progress, resolving complaints and collecting feedback. Each complaint receives a permanent ticket number, priority level and audit history.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B9B05869-B8CE-4F33-B954-BF94E45F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203DBD22-76A5-4BFD-ABBA-D9C3F18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3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149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21ADEE0D-D23F-4D4C-9A68-859B8F4B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4ECBA150-1E3C-4E83-BE3F-F9DC3E5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871A374D-CF9D-43A9-9567-7ACEDE3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046E7F8B-E226-4EE0-8194-56C12E1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314B1E1A-1D33-411F-A8C4-AD615533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03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44C80A6A-7BE3-4C4A-9D0B-9BFD8E1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Objectives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182D5BCE-BD7B-4E67-A3A7-4059A76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15" y="1632220"/>
            <a:ext cx="466350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8364BE86-0D0F-4436-A961-E4EC72F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286000"/>
            <a:ext cx="1005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C9D8E8"/>
                </a:solidFill>
                <a:latin typeface="Cambria"/>
                <a:ea typeface="Cambria"/>
                <a:cs typeface="Cambria"/>
              </a:rPr>
              <a:t>01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22FFC5F8-F78E-4C2F-93EA-B1BA478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07683"/>
            <a:ext cx="3291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BEF93186-E01C-4368-81CE-ACFAEB7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55" y="1632220"/>
            <a:ext cx="466350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DBC566DA-16AE-4010-9165-54CFDDF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86000"/>
            <a:ext cx="1005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C9D8E8"/>
                </a:solidFill>
                <a:latin typeface="Cambria"/>
                <a:ea typeface="Cambria"/>
                <a:cs typeface="Cambria"/>
              </a:rPr>
              <a:t>02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712D416D-AAAD-45AA-A7B7-54508163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775" y="2016245"/>
            <a:ext cx="3291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CCBE2282-72B7-4EC5-8498-E7DD1A3A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160520"/>
            <a:ext cx="46634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D28EAEC1-4903-45E9-AFA5-9E0FD218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43400"/>
            <a:ext cx="1005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C9D8E8"/>
                </a:solidFill>
                <a:latin typeface="Cambria"/>
                <a:ea typeface="Cambria"/>
                <a:cs typeface="Cambria"/>
              </a:rPr>
              <a:t>03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07C9367E-3B6A-448B-9F65-81D218F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389120"/>
            <a:ext cx="3291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55C871D1-D69E-47A7-88EF-C203ABC6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60520"/>
            <a:ext cx="4663440" cy="1828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1E256AB-779F-42B8-B888-BCE1A72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43400"/>
            <a:ext cx="1005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C9D8E8"/>
                </a:solidFill>
                <a:latin typeface="Cambria"/>
                <a:ea typeface="Cambria"/>
                <a:cs typeface="Cambria"/>
              </a:rPr>
              <a:t>04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C9F38C32-E7D0-486D-909D-96CE759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9120"/>
            <a:ext cx="3291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2E84B471-0FA8-47AE-AE61-82E738F0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C0AB8FCC-BACF-4299-AAD2-BCF28A50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4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EF1B67-66C0-448A-A13C-26C57D0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431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Secure role-based access for students, staff and administrators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8223B4-9EEA-44B9-859F-1BC5263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431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Submit complaints with category, location, urgency and image evidence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2968F2-1168-473E-9D4D-FE3F4EE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291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Assign work, manage status transitions and preserve audit history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9C275D-C70A-4C7F-BABC-6B825F7B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29125"/>
            <a:ext cx="295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Provide notifications, feedback, analytics and CSV reports</a:t>
            </a:r>
          </a:p>
        </p:txBody>
      </p:sp>
    </p:spTree>
    <p:extLst>
      <p:ext uri="{BB962C8B-B14F-4D97-AF65-F5344CB8AC3E}">
        <p14:creationId xmlns:p14="http://schemas.microsoft.com/office/powerpoint/2010/main" val="1803886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4EE0F1CA-2012-46B3-B1E7-618F0AC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81A67145-D90C-4A48-8EF9-DAA6A782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DFE6445D-91C5-4A35-B296-4FD4809A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4C01810F-38C2-4219-A528-35CC3DD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04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527D893D-6848-49C4-845E-CE37CDC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Technology Stack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28E518A-DE82-4D9F-B5EE-1AB5AF4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75" y="1543875"/>
            <a:ext cx="9849000" cy="44454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08B241FB-D1A9-415D-A00D-7B8D709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78B963C8-3A5D-440D-ACB9-DCB21A9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5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2C1AA01-7C98-42D2-921B-E055333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Application Layer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8BE7E44-56BE-483A-994E-EEA4912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2333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Django 6.1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Python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Django Templates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HTML, CSS and JavaScript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84F4F47-FBDC-4032-8086-1D9C926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Data and Media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9CE22C1-8A16-4AA6-BB30-35EFBC9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2333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SQLite for local development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PostgreSQL for production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Pillow image validation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S3-compatible media storage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9FA598C-1AEF-46E3-ACE0-1939906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2B62"/>
                </a:solidFill>
                <a:latin typeface="Aptos"/>
                <a:ea typeface="Aptos"/>
                <a:cs typeface="Aptos"/>
              </a:rPr>
              <a:t>Deployment and Quality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112231C-23B3-4055-AE84-E2848CF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333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GitHub version control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Vercel deployment configuration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WhiteNoise static assets</a:t>
            </a:r>
          </a:p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3333"/>
                </a:solidFill>
                <a:latin typeface="Aptos"/>
                <a:ea typeface="Aptos"/>
                <a:cs typeface="Aptos"/>
              </a:rPr>
              <a:t>86 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1018701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878D0309-37D8-43C1-97F9-24522D43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93E61589-8E82-416F-B15A-E9E9CF9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AAEE5D56-0C62-4962-8EED-F88E5A8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E63EF9AB-C71F-4E74-B73B-3FFFA65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EC77A309-FDF0-4B85-9393-A8E2243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05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2E46DD7D-3AB6-4879-9663-5DDF524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Literature Survey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9" name="Google Shape;129;p8"/>
          <p:cNvGraphicFramePr/>
          <p:nvPr/>
        </p:nvGraphicFramePr>
        <p:xfrm>
          <a:off xmlns:a="http://schemas.openxmlformats.org/drawingml/2006/main" x="1234440" y="160021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{DACFCA41-7221-4674-B144-DCA2F1B7582E}</a:tableStyleId>
              </a:tblPr>
              <a:tblGrid>
                <a:gridCol w="731525"/>
                <a:gridCol w="2743200"/>
                <a:gridCol w="2011675"/>
                <a:gridCol w="1737350"/>
                <a:gridCol w="2468875"/>
              </a:tblGrid>
              <a:tr h="804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S.No</a:t>
                      </a:r>
                      <a:endParaRPr sz="115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  <a:endParaRPr sz="115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Area</a:t>
                      </a:r>
                      <a:endParaRPr sz="115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Finding</a:t>
                      </a:r>
                      <a:endParaRPr sz="115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sz="1150" b="1" u="non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 in CampusFix</a:t>
                      </a:r>
                      <a:endParaRPr sz="115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21295C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Django Documentation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Secure web development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Authentication, forms and ORM support robust server-side applications.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Role-based access and validated forms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PostgreSQL Documentation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Relational data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Constraints and transactions protect data integrity.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Complaints, history and feedback records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Service management studies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Issue tracking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Ticket ownership and status visibility improve accountability.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Permanent tickets and workflow history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3B"/>
                        </a:buClr>
                        <a:buSzPts val="1100"/>
                        <a:buFont typeface="Calibri"/>
                        <a:buNone/>
                      </a:pPr>
                      <a:r>
                        <a:rPr sz="1100" i="1" u="none" cap="none">
                          <a:solidFill>
                            <a:srgbClr val="1B1F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sz="1100" u="non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Priority management practice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Issue triage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Urgency and category help teams handle serious issues first.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Transparent priority scoring</a:t>
                      </a:r>
                      <a:endParaRPr sz="1400" u="none" cap="none"/>
                    </a:p>
                  </a:txBody>
                  <a:tcPr marL="91450" marR="91450" marT="45725" marB="45725" anchor="ctr">
                    <a:lnL w="9525" cmpd="sng">
                      <a:solidFill>
                        <a:srgbClr val="DEE4EF"/>
                      </a:solidFill>
                      <a:prstDash val="solid"/>
                    </a:lnL>
                    <a:lnR w="9525" cmpd="sng">
                      <a:solidFill>
                        <a:srgbClr val="DEE4EF"/>
                      </a:solidFill>
                      <a:prstDash val="solid"/>
                    </a:lnR>
                    <a:lnT w="9525" cmpd="sng">
                      <a:solidFill>
                        <a:srgbClr val="DEE4EF"/>
                      </a:solidFill>
                      <a:prstDash val="solid"/>
                    </a:lnT>
                    <a:lnB w="9525" cmpd="sng">
                      <a:solidFill>
                        <a:srgbClr val="DEE4EF"/>
                      </a:solidFill>
                      <a:prstDash val="soli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A836A916-4701-4286-AF77-DC3176E8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DA408A93-2F37-4ED1-A9B7-FDE61C42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6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4318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E2D2EC1D-159C-43C6-8822-1E233862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F8B423E6-95C1-4E7A-897F-119B17C1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21856661-2AED-4AB4-B2F7-072463B9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BD129542-ECB7-4428-821F-97289A9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C3E0C0F1-C465-41C9-B434-AF16F70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06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Google Shape;142;p9">
            <a:extLst xmlns:a="http://schemas.openxmlformats.org/drawingml/2006/main">
              <a:ext uri="{FF2B5EF4-FFF2-40B4-BE49-F238E27FC236}">
                <a16:creationId xmlns:a16="http://schemas.microsoft.com/office/drawing/2014/main" id="{12072584-3B97-467E-802D-B940EB4B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CampusFix Workflow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200A8FE8-786B-48D8-ACF3-DCB0942B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1600200"/>
            <a:ext cx="9692700" cy="45852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 cmpd="sng">
            <a:solidFill>
              <a:srgbClr val="DEE4EF"/>
            </a:solidFill>
            <a:prstDash val="dash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B88E63D6-8E9D-404E-B6F4-E1C6A53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1422"/>
            <a:ext cx="8503800" cy="24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rPr sz="1800" b="0" i="1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Student submits a complaint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/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>Ticket number and priority generated</a:t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/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>Administrator reviews and assigns staff</a:t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/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>Staff starts work and posts resolution note</a:t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/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r>
              <a:t>Student tracks timeline and gives feedback</a:t>
            </a:r>
            <a:endParaRPr sz="1800" b="0" i="1" u="none" cap="none">
              <a:solidFill>
                <a:srgbClr val="6B759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4E241A87-DAA4-4395-9168-ACB90546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3F46F065-D001-4AAE-83FC-9A0B3EC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7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72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10">
            <a:extLst xmlns:a="http://schemas.openxmlformats.org/drawingml/2006/main">
              <a:ext uri="{FF2B5EF4-FFF2-40B4-BE49-F238E27FC236}">
                <a16:creationId xmlns:a16="http://schemas.microsoft.com/office/drawing/2014/main" id="{ADBFDD23-C364-4ACC-BC34-A6C6A477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10">
            <a:extLst xmlns:a="http://schemas.openxmlformats.org/drawingml/2006/main">
              <a:ext uri="{FF2B5EF4-FFF2-40B4-BE49-F238E27FC236}">
                <a16:creationId xmlns:a16="http://schemas.microsoft.com/office/drawing/2014/main" id="{F715115E-C544-4677-9CCA-2DB6D75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Google Shape;154;p10">
            <a:extLst xmlns:a="http://schemas.openxmlformats.org/drawingml/2006/main">
              <a:ext uri="{FF2B5EF4-FFF2-40B4-BE49-F238E27FC236}">
                <a16:creationId xmlns:a16="http://schemas.microsoft.com/office/drawing/2014/main" id="{CF1E6B4F-CCE5-431E-83E0-634B2748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Google Shape;155;p10">
            <a:extLst xmlns:a="http://schemas.openxmlformats.org/drawingml/2006/main">
              <a:ext uri="{FF2B5EF4-FFF2-40B4-BE49-F238E27FC236}">
                <a16:creationId xmlns:a16="http://schemas.microsoft.com/office/drawing/2014/main" id="{CB81CEED-310A-43C1-A6B1-5BA7C12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0">
            <a:extLst xmlns:a="http://schemas.openxmlformats.org/drawingml/2006/main">
              <a:ext uri="{FF2B5EF4-FFF2-40B4-BE49-F238E27FC236}">
                <a16:creationId xmlns:a16="http://schemas.microsoft.com/office/drawing/2014/main" id="{95413254-4C36-4E2F-AC37-2088620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07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0">
            <a:extLst xmlns:a="http://schemas.openxmlformats.org/drawingml/2006/main">
              <a:ext uri="{FF2B5EF4-FFF2-40B4-BE49-F238E27FC236}">
                <a16:creationId xmlns:a16="http://schemas.microsoft.com/office/drawing/2014/main" id="{A601962B-CC4E-4E69-8CCE-5CF2412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Expected Outcome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0">
            <a:extLst xmlns:a="http://schemas.openxmlformats.org/drawingml/2006/main">
              <a:ext uri="{FF2B5EF4-FFF2-40B4-BE49-F238E27FC236}">
                <a16:creationId xmlns:a16="http://schemas.microsoft.com/office/drawing/2014/main" id="{1104FCE0-C995-4D1B-A730-0360C04D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40" y="1600190"/>
            <a:ext cx="9692700" cy="777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Google Shape;159;p10">
            <a:extLst xmlns:a="http://schemas.openxmlformats.org/drawingml/2006/main">
              <a:ext uri="{FF2B5EF4-FFF2-40B4-BE49-F238E27FC236}">
                <a16:creationId xmlns:a16="http://schemas.microsoft.com/office/drawing/2014/main" id="{FF296F2A-F0EE-4C8F-94DC-9CA4046D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1801358"/>
            <a:ext cx="384000" cy="3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Google Shape;160;p10">
            <a:extLst xmlns:a="http://schemas.openxmlformats.org/drawingml/2006/main">
              <a:ext uri="{FF2B5EF4-FFF2-40B4-BE49-F238E27FC236}">
                <a16:creationId xmlns:a16="http://schemas.microsoft.com/office/drawing/2014/main" id="{8B546395-6DB7-4A5B-9E34-3C6F00C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1801358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0">
            <a:extLst xmlns:a="http://schemas.openxmlformats.org/drawingml/2006/main">
              <a:ext uri="{FF2B5EF4-FFF2-40B4-BE49-F238E27FC236}">
                <a16:creationId xmlns:a16="http://schemas.microsoft.com/office/drawing/2014/main" id="{6172A483-2D69-4B87-AE55-A3E7491D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00" y="1600190"/>
            <a:ext cx="85953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0">
            <a:extLst xmlns:a="http://schemas.openxmlformats.org/drawingml/2006/main">
              <a:ext uri="{FF2B5EF4-FFF2-40B4-BE49-F238E27FC236}">
                <a16:creationId xmlns:a16="http://schemas.microsoft.com/office/drawing/2014/main" id="{F2078FA6-3C01-4341-920B-362B9E11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40" y="2560310"/>
            <a:ext cx="9692700" cy="777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0">
            <a:extLst xmlns:a="http://schemas.openxmlformats.org/drawingml/2006/main">
              <a:ext uri="{FF2B5EF4-FFF2-40B4-BE49-F238E27FC236}">
                <a16:creationId xmlns:a16="http://schemas.microsoft.com/office/drawing/2014/main" id="{D831C107-DAFA-4BDA-BEA1-64B542E2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2761478"/>
            <a:ext cx="384000" cy="3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0">
            <a:extLst xmlns:a="http://schemas.openxmlformats.org/drawingml/2006/main">
              <a:ext uri="{FF2B5EF4-FFF2-40B4-BE49-F238E27FC236}">
                <a16:creationId xmlns:a16="http://schemas.microsoft.com/office/drawing/2014/main" id="{72B9771D-10CF-47CD-81CC-DFD2F47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2761478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0">
            <a:extLst xmlns:a="http://schemas.openxmlformats.org/drawingml/2006/main">
              <a:ext uri="{FF2B5EF4-FFF2-40B4-BE49-F238E27FC236}">
                <a16:creationId xmlns:a16="http://schemas.microsoft.com/office/drawing/2014/main" id="{1040BA32-E82A-4B98-BC7A-7CB6B056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00" y="2560310"/>
            <a:ext cx="85953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0">
            <a:extLst xmlns:a="http://schemas.openxmlformats.org/drawingml/2006/main">
              <a:ext uri="{FF2B5EF4-FFF2-40B4-BE49-F238E27FC236}">
                <a16:creationId xmlns:a16="http://schemas.microsoft.com/office/drawing/2014/main" id="{CCB0D14F-5C60-4376-9F88-3CFA0AE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40" y="3520430"/>
            <a:ext cx="9692700" cy="777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0">
            <a:extLst xmlns:a="http://schemas.openxmlformats.org/drawingml/2006/main">
              <a:ext uri="{FF2B5EF4-FFF2-40B4-BE49-F238E27FC236}">
                <a16:creationId xmlns:a16="http://schemas.microsoft.com/office/drawing/2014/main" id="{39E25A51-A4F4-4019-8937-42B83479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3721598"/>
            <a:ext cx="384000" cy="3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0">
            <a:extLst xmlns:a="http://schemas.openxmlformats.org/drawingml/2006/main">
              <a:ext uri="{FF2B5EF4-FFF2-40B4-BE49-F238E27FC236}">
                <a16:creationId xmlns:a16="http://schemas.microsoft.com/office/drawing/2014/main" id="{52C67768-471A-4BAE-9398-AF67C12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3721598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Google Shape;169;p10">
            <a:extLst xmlns:a="http://schemas.openxmlformats.org/drawingml/2006/main">
              <a:ext uri="{FF2B5EF4-FFF2-40B4-BE49-F238E27FC236}">
                <a16:creationId xmlns:a16="http://schemas.microsoft.com/office/drawing/2014/main" id="{1E24929C-A053-4E94-96D7-34798407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00" y="3520430"/>
            <a:ext cx="85953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Google Shape;170;p10">
            <a:extLst xmlns:a="http://schemas.openxmlformats.org/drawingml/2006/main">
              <a:ext uri="{FF2B5EF4-FFF2-40B4-BE49-F238E27FC236}">
                <a16:creationId xmlns:a16="http://schemas.microsoft.com/office/drawing/2014/main" id="{F069AF90-7271-4213-9F98-21DA807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40" y="4480550"/>
            <a:ext cx="9692700" cy="77730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EE4E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0">
            <a:extLst xmlns:a="http://schemas.openxmlformats.org/drawingml/2006/main">
              <a:ext uri="{FF2B5EF4-FFF2-40B4-BE49-F238E27FC236}">
                <a16:creationId xmlns:a16="http://schemas.microsoft.com/office/drawing/2014/main" id="{E994D8FA-D58B-4874-82ED-B7BE717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4681718"/>
            <a:ext cx="384000" cy="3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Google Shape;172;p10">
            <a:extLst xmlns:a="http://schemas.openxmlformats.org/drawingml/2006/main">
              <a:ext uri="{FF2B5EF4-FFF2-40B4-BE49-F238E27FC236}">
                <a16:creationId xmlns:a16="http://schemas.microsoft.com/office/drawing/2014/main" id="{CB1EDE7F-1CF5-40BA-A3E7-E36A8B5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40" y="4681718"/>
            <a:ext cx="3840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10">
            <a:extLst xmlns:a="http://schemas.openxmlformats.org/drawingml/2006/main">
              <a:ext uri="{FF2B5EF4-FFF2-40B4-BE49-F238E27FC236}">
                <a16:creationId xmlns:a16="http://schemas.microsoft.com/office/drawing/2014/main" id="{8DE6CE74-310C-41F7-AD49-6AF9D0C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00" y="4480550"/>
            <a:ext cx="8595300" cy="7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" name="Google Shape;174;p10">
            <a:extLst xmlns:a="http://schemas.openxmlformats.org/drawingml/2006/main">
              <a:ext uri="{FF2B5EF4-FFF2-40B4-BE49-F238E27FC236}">
                <a16:creationId xmlns:a16="http://schemas.microsoft.com/office/drawing/2014/main" id="{2EC81FD2-355A-4724-96DE-056E4060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10">
            <a:extLst xmlns:a="http://schemas.openxmlformats.org/drawingml/2006/main">
              <a:ext uri="{FF2B5EF4-FFF2-40B4-BE49-F238E27FC236}">
                <a16:creationId xmlns:a16="http://schemas.microsoft.com/office/drawing/2014/main" id="{7AF7D76D-AAEF-4935-B330-B84032C3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8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47A19B4-992E-41A3-A185-028C03E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B62"/>
                </a:solidFill>
                <a:latin typeface="Aptos"/>
                <a:ea typeface="Aptos"/>
                <a:cs typeface="Aptos"/>
              </a:rPr>
              <a:t>Students can report issues and follow each ticket privately.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4AB474C-751B-46E3-AE97-32F8C35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86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B62"/>
                </a:solidFill>
                <a:latin typeface="Aptos"/>
                <a:ea typeface="Aptos"/>
                <a:cs typeface="Aptos"/>
              </a:rPr>
              <a:t>Maintenance staff see only their assigned work and update progress.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9E12C80-5111-450D-A579-CFCFB2C1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480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B62"/>
                </a:solidFill>
                <a:latin typeface="Aptos"/>
                <a:ea typeface="Aptos"/>
                <a:cs typeface="Aptos"/>
              </a:rPr>
              <a:t>Administrators control assignment, priorities, analytics and reports.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745929F-612D-493B-B10A-FFF8636D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0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B62"/>
                </a:solidFill>
                <a:latin typeface="Aptos"/>
                <a:ea typeface="Aptos"/>
                <a:cs typeface="Aptos"/>
              </a:rPr>
              <a:t>The project supports evidence images, notifications and feedback.</a:t>
            </a:r>
          </a:p>
        </p:txBody>
      </p:sp>
    </p:spTree>
    <p:extLst>
      <p:ext uri="{BB962C8B-B14F-4D97-AF65-F5344CB8AC3E}">
        <p14:creationId xmlns:p14="http://schemas.microsoft.com/office/powerpoint/2010/main" val="962692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D8485F3D-1993-4EF0-8FBE-6D75D9BE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7843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Google Shape;182;p11">
            <a:extLst xmlns:a="http://schemas.openxmlformats.org/drawingml/2006/main">
              <a:ext uri="{FF2B5EF4-FFF2-40B4-BE49-F238E27FC236}">
                <a16:creationId xmlns:a16="http://schemas.microsoft.com/office/drawing/2014/main" id="{3A5A4ADF-D57F-43AB-AF8B-1DC689F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95C">
              <a:alpha val="509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63B659B5-839F-4188-ACB7-78562FE4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295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Google Shape;184;p11">
            <a:extLst xmlns:a="http://schemas.openxmlformats.org/drawingml/2006/main">
              <a:ext uri="{FF2B5EF4-FFF2-40B4-BE49-F238E27FC236}">
                <a16:creationId xmlns:a16="http://schemas.microsoft.com/office/drawing/2014/main" id="{BAD4C665-2641-4B36-8132-3BA6238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530352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1">
            <a:extLst xmlns:a="http://schemas.openxmlformats.org/drawingml/2006/main">
              <a:ext uri="{FF2B5EF4-FFF2-40B4-BE49-F238E27FC236}">
                <a16:creationId xmlns:a16="http://schemas.microsoft.com/office/drawing/2014/main" id="{22E2F62F-797C-4392-B460-7597CA35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9768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sz="1100" b="1" i="0" u="none" cap="none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SECTION 08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11">
            <a:extLst xmlns:a="http://schemas.openxmlformats.org/drawingml/2006/main">
              <a:ext uri="{FF2B5EF4-FFF2-40B4-BE49-F238E27FC236}">
                <a16:creationId xmlns:a16="http://schemas.microsoft.com/office/drawing/2014/main" id="{889685A3-2554-44A7-88D7-A2D0DF1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665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sz="3000" b="1" i="0" u="none" cap="none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References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" name="Google Shape;187;p11">
            <a:extLst xmlns:a="http://schemas.openxmlformats.org/drawingml/2006/main">
              <a:ext uri="{FF2B5EF4-FFF2-40B4-BE49-F238E27FC236}">
                <a16:creationId xmlns:a16="http://schemas.microsoft.com/office/drawing/2014/main" id="{49436CEF-0B8F-4AD1-A393-A5B7493E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40" y="4563960"/>
            <a:ext cx="96927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sz="1400" b="0" i="1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Selected technical and project references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" name="Google Shape;188;p11">
            <a:extLst xmlns:a="http://schemas.openxmlformats.org/drawingml/2006/main">
              <a:ext uri="{FF2B5EF4-FFF2-40B4-BE49-F238E27FC236}">
                <a16:creationId xmlns:a16="http://schemas.microsoft.com/office/drawing/2014/main" id="{4C9D51B1-573A-40AD-8E19-E132041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50" y="1243575"/>
            <a:ext cx="9692700" cy="300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[1] Django Software Foundation, Django Documentation, https://docs.djangoproject.com/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[2] PostgreSQL Global Development Group, PostgreSQL Documentation, https://www.postgresql.org/docs/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[3] Vercel, Python Runtime Documentation, https://vercel.com/docs/functions/runtimes/python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[4] Neon, Neon Documentation, https://neon.tech/docs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[5] CampusFix Source Repository, https://github.com/mokshg2428/CampusFix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Google Shape;189;p11">
            <a:extLst xmlns:a="http://schemas.openxmlformats.org/drawingml/2006/main">
              <a:ext uri="{FF2B5EF4-FFF2-40B4-BE49-F238E27FC236}">
                <a16:creationId xmlns:a16="http://schemas.microsoft.com/office/drawing/2014/main" id="{E49693C1-D028-4567-9935-DD46F330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CAMPUSFIX  |  B.TECH MINI PROJECT PRESENTATION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Google Shape;190;p11">
            <a:extLst xmlns:a="http://schemas.openxmlformats.org/drawingml/2006/main">
              <a:ext uri="{FF2B5EF4-FFF2-40B4-BE49-F238E27FC236}">
                <a16:creationId xmlns:a16="http://schemas.microsoft.com/office/drawing/2014/main" id="{5662AF76-A211-43B0-8275-38BEC88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51967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sz="900" b="0" i="0" u="none" cap="none">
                <a:solidFill>
                  <a:srgbClr val="6B7593"/>
                </a:solidFill>
                <a:latin typeface="Calibri"/>
                <a:ea typeface="Calibri"/>
                <a:cs typeface="Calibri"/>
              </a:rPr>
              <a:t>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8847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12">
            <a:extLst xmlns:a="http://schemas.openxmlformats.org/drawingml/2006/main">
              <a:ext uri="{FF2B5EF4-FFF2-40B4-BE49-F238E27FC236}">
                <a16:creationId xmlns:a16="http://schemas.microsoft.com/office/drawing/2014/main" id="{9BD01291-BFAD-47BF-85BB-5EBBDFF5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8039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12">
            <a:extLst xmlns:a="http://schemas.openxmlformats.org/drawingml/2006/main">
              <a:ext uri="{FF2B5EF4-FFF2-40B4-BE49-F238E27FC236}">
                <a16:creationId xmlns:a16="http://schemas.microsoft.com/office/drawing/2014/main" id="{DE894F17-5B7E-4D85-86BF-8BD2138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566928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3EE">
              <a:alpha val="1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12">
            <a:extLst xmlns:a="http://schemas.openxmlformats.org/drawingml/2006/main">
              <a:ext uri="{FF2B5EF4-FFF2-40B4-BE49-F238E27FC236}">
                <a16:creationId xmlns:a16="http://schemas.microsoft.com/office/drawing/2014/main" id="{8F7DA040-80CD-488D-B58E-E67190B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10360152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sz="48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sz="4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2">
            <a:extLst xmlns:a="http://schemas.openxmlformats.org/drawingml/2006/main">
              <a:ext uri="{FF2B5EF4-FFF2-40B4-BE49-F238E27FC236}">
                <a16:creationId xmlns:a16="http://schemas.microsoft.com/office/drawing/2014/main" id="{1F296DCE-587A-4891-BCEE-C4FEAC62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1036015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sz="1600" b="0" i="1" u="non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CampusFix: Campus Complaint and Maintenance Management System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06" name="Google Shape;200;p12"/>
          <p:cNvCxnSpPr/>
          <p:nvPr/>
        </p:nvCxnSpPr>
        <p:spPr>
          <a:xfrm xmlns:a="http://schemas.openxmlformats.org/drawingml/2006/main">
            <a:off x="5271516" y="4160520"/>
            <a:ext cx="164592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12">
            <a:extLst xmlns:a="http://schemas.openxmlformats.org/drawingml/2006/main">
              <a:ext uri="{FF2B5EF4-FFF2-40B4-BE49-F238E27FC236}">
                <a16:creationId xmlns:a16="http://schemas.microsoft.com/office/drawing/2014/main" id="{25FC1A2D-85D5-473D-98AF-C2B4BF3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5" y="4559880"/>
            <a:ext cx="103602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300" b="0" i="0" u="none" cap="none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Lloyd Institute of Engineering and Technology, Greater Noida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41275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2026-09-26T03:57:28.0100000Z</dcterms:created>
  <dcterms:modified xsi:type="dcterms:W3CDTF">2026-09-26T03:57:28.0100000Z</dcterms:modified>
</coreProperties>
</file>